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4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>
        <p:scale>
          <a:sx n="119" d="100"/>
          <a:sy n="119" d="100"/>
        </p:scale>
        <p:origin x="5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364DE-399D-2D4D-9A7F-9CFC9242FF56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E744F7-269E-5C4B-85B0-2F0F8F4842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90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E744F7-269E-5C4B-85B0-2F0F8F4842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43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5835C-355A-AC5A-D6E5-B4B2E03D7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B6A923-E546-F73B-DF26-2736217DC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63720-CC17-3C17-C075-31A51A154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794F5C-8FB5-921B-58EC-B522DA244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E744F7-269E-5C4B-85B0-2F0F8F4842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8638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BF1D0-34BB-72CA-2DAF-95581E67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3B979-CE59-DAC5-0738-C16278DD17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C8364-2B2A-8AF9-B7A1-0D6C16F1A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E8199-54D1-F086-71BE-1896CBA7D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E744F7-269E-5C4B-85B0-2F0F8F4842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745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138E9-B416-30E3-6A4C-36EDA7A93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4959B7-CDA3-1057-77B1-DF55C74D6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8000D9-91B0-C8A5-2DDD-A243B17E4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9487BF-2736-97F3-C5E0-FD4A9ACB1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E744F7-269E-5C4B-85B0-2F0F8F4842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28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52304-788C-6401-23B1-99EB9B771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371DEC-607A-B005-ABF0-3A8F23C3F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EE523-7752-A9CD-BE2C-10EE52191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BF3303-F099-6DE2-E57C-FBA7BEA316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E744F7-269E-5C4B-85B0-2F0F8F4842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73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29BA5-BFE7-C61C-F011-6A818D5A3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85C7A-8F5C-8DDC-990F-B25A9F2D1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100CA-CA34-79D5-BD8C-4729DB72F3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79244C-BD75-8B8E-9326-1EF90B8C6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E744F7-269E-5C4B-85B0-2F0F8F4842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353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4D6F3-C8DD-F90B-AAB6-24B76A050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AED40-37F2-77EE-3B7B-A268C03D2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43C21B-CC86-4067-96FA-6FB06CE57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CFA01-F731-E970-085C-CB5EBC2BF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E744F7-269E-5C4B-85B0-2F0F8F4842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366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39801-D4C9-7C19-8D38-B222FC627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7EC06-95C6-574F-72D8-D3B7E816D1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6D193-07FC-B972-27A5-8484AD778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42D8-804F-2342-8680-34D53F03E4DA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C1C73-1206-ED1C-496A-931D7BDF1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1A695-9CAD-A890-19B9-4AFC549E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9073-4F7D-3049-8460-9E5D19291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562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DA940-4071-3513-696F-6642959B0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A53FC-D246-165A-A429-F61AC5ECE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8F99D-17EE-FD8C-A9A6-29ED1157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42D8-804F-2342-8680-34D53F03E4DA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7C525-7D21-D98C-6195-4050F4FE6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DEEFA-AECF-6AC3-24FC-5D079A4C5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9073-4F7D-3049-8460-9E5D19291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121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F5B8E-8065-5D6B-8478-FEAB7C5B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B53A02-9589-B7C5-229D-EC7C22BCE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7BE75-F4D7-4B4B-8EFB-BFE0B862F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42D8-804F-2342-8680-34D53F03E4DA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F511D-D304-C689-8324-C6FA08293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2A1A9-726A-864F-A94C-4A1674E6E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9073-4F7D-3049-8460-9E5D19291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24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C73C8-9E88-D51A-41B9-CAD61BE3A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13145-E3D6-D06E-B69B-0FE54E4AB3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4485E-3290-31AB-ECF2-6056CB45C7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FA2D0-39FD-AA9A-254C-C5750C5EDE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42D8-804F-2342-8680-34D53F03E4DA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C8BD9-5CB0-25C5-2844-54912CDC0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BCBCEB-05D8-73A3-8993-15849C81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9073-4F7D-3049-8460-9E5D19291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971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928C1-732F-64A7-217D-3FF4928C1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9095A-7158-290C-9A76-13B3F7155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5BE9E-CE67-EE73-924D-F932A6A3E5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B0C186-273E-D957-EB97-B482F694A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C5FA7E-7A32-21E0-4256-7B47428F3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351965-8965-42F7-EA9A-88BC21CA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42D8-804F-2342-8680-34D53F03E4DA}" type="datetimeFigureOut">
              <a:rPr lang="en-US" smtClean="0"/>
              <a:t>8/15/26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AEF0BD-BD8E-5C8C-920B-59CEA4A9F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B579AD-1BC9-CC2D-CF00-DB6C4AD6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9073-4F7D-3049-8460-9E5D19291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44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6BC3B-4619-6751-62C6-7F8CB41AB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48F423-D8D4-B21E-93E2-58843A2DA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42D8-804F-2342-8680-34D53F03E4DA}" type="datetimeFigureOut">
              <a:rPr lang="en-US" smtClean="0"/>
              <a:t>8/15/26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3A1F5-2B50-A386-FB1A-8732FBF53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3EFDA-C0C0-DAAF-AFE0-4FB61733F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9073-4F7D-3049-8460-9E5D19291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031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65E945-E80D-68F5-72DC-279A390AA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42D8-804F-2342-8680-34D53F03E4DA}" type="datetimeFigureOut">
              <a:rPr lang="en-US" smtClean="0"/>
              <a:t>8/15/26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690AFF-0797-63AC-1DC6-3B485DD20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47B48-0AAA-26D7-57F4-C44AF4BD2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9073-4F7D-3049-8460-9E5D19291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926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2A1B-F8E7-E158-690A-AD4467517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96F1A-DDE2-DDBB-24F8-44AE5CF75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5DF1F-9642-7475-F8A6-6EF11CD687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FE1F6-FFED-D8FD-D45D-678B7F0F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42D8-804F-2342-8680-34D53F03E4DA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1CE97-D5A9-044C-672E-5CD0B9DBD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D6030-B405-A661-6AB4-41DB7CC81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9073-4F7D-3049-8460-9E5D19291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2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76104-596D-C14C-1786-083A1197B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4F8AC5-5650-DB43-DA27-73E22B25F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11A9C0-A529-D953-68FA-EBD47ACE2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F0471-2A8F-AD0B-5812-3700CB072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42D8-804F-2342-8680-34D53F03E4DA}" type="datetimeFigureOut">
              <a:rPr lang="en-US" smtClean="0"/>
              <a:t>8/15/26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79417-A10E-3D5E-6652-4D052261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C3111-5A06-303A-5264-0A15CD42B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9073-4F7D-3049-8460-9E5D19291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737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51F5E-1513-02D6-72F8-076BEE48F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E0ACD-6D62-0B32-720A-03827863B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C8F58-8415-B12A-30CB-6B97D1B62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42D8-804F-2342-8680-34D53F03E4DA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96702-B155-3DFB-61EE-414E22A95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B3C76-446A-A3B3-8A79-56E2E7305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9073-4F7D-3049-8460-9E5D19291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5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573E8-44C2-3551-9111-44110CEF24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DA0BB-C29F-18EB-5810-6DFF951FB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9924D-DC10-8A96-C002-9F8C8C9B0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542D8-804F-2342-8680-34D53F03E4DA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AE6A2B-5BBB-1DD1-035B-8419AE4AF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6EBCE-BFBA-7833-6249-1D16A97CD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E9073-4F7D-3049-8460-9E5D19291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75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F183BF-C72A-B678-65A4-EE614AB7D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4DA44-DD6A-1EEA-C8DC-382D0AFA4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A8062-38D0-A93C-1587-50ECF1D7A0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5542D8-804F-2342-8680-34D53F03E4DA}" type="datetimeFigureOut">
              <a:rPr lang="en-US" smtClean="0"/>
              <a:t>8/15/26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451F0-C5DB-2CE5-3914-A8CEC8A7F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77A15-C1E4-5936-D9F2-610AB6F83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2E9073-4F7D-3049-8460-9E5D19291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33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BAB9A5-9565-1FE2-0949-6E2925F8E2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25" r="29074"/>
          <a:stretch>
            <a:fillRect/>
          </a:stretch>
        </p:blipFill>
        <p:spPr>
          <a:xfrm>
            <a:off x="6511777" y="16559"/>
            <a:ext cx="5680223" cy="6824882"/>
          </a:xfrm>
          <a:custGeom>
            <a:avLst/>
            <a:gdLst/>
            <a:ahLst/>
            <a:cxnLst/>
            <a:rect l="l" t="t" r="r" b="b"/>
            <a:pathLst>
              <a:path w="4047645" h="2495811">
                <a:moveTo>
                  <a:pt x="2441891" y="4"/>
                </a:moveTo>
                <a:cubicBezTo>
                  <a:pt x="2489381" y="-78"/>
                  <a:pt x="2536882" y="1163"/>
                  <a:pt x="2584383" y="4428"/>
                </a:cubicBezTo>
                <a:cubicBezTo>
                  <a:pt x="2744314" y="17813"/>
                  <a:pt x="2904989" y="21079"/>
                  <a:pt x="3065367" y="14222"/>
                </a:cubicBezTo>
                <a:cubicBezTo>
                  <a:pt x="3194244" y="5694"/>
                  <a:pt x="3323514" y="4206"/>
                  <a:pt x="3452568" y="9782"/>
                </a:cubicBezTo>
                <a:cubicBezTo>
                  <a:pt x="3572813" y="16442"/>
                  <a:pt x="3693059" y="23233"/>
                  <a:pt x="3813712" y="19315"/>
                </a:cubicBezTo>
                <a:cubicBezTo>
                  <a:pt x="3861755" y="17748"/>
                  <a:pt x="3909121" y="15789"/>
                  <a:pt x="3956758" y="13177"/>
                </a:cubicBezTo>
                <a:lnTo>
                  <a:pt x="4047645" y="9696"/>
                </a:lnTo>
                <a:lnTo>
                  <a:pt x="4047645" y="2495811"/>
                </a:lnTo>
                <a:lnTo>
                  <a:pt x="28177" y="2495811"/>
                </a:lnTo>
                <a:lnTo>
                  <a:pt x="28782" y="2485852"/>
                </a:lnTo>
                <a:cubicBezTo>
                  <a:pt x="31911" y="2365446"/>
                  <a:pt x="35027" y="2245002"/>
                  <a:pt x="38157" y="2124521"/>
                </a:cubicBezTo>
                <a:cubicBezTo>
                  <a:pt x="38284" y="2119444"/>
                  <a:pt x="39171" y="2114494"/>
                  <a:pt x="39171" y="2109417"/>
                </a:cubicBezTo>
                <a:cubicBezTo>
                  <a:pt x="48166" y="1995573"/>
                  <a:pt x="53107" y="1881729"/>
                  <a:pt x="18899" y="1770550"/>
                </a:cubicBezTo>
                <a:cubicBezTo>
                  <a:pt x="15871" y="1760104"/>
                  <a:pt x="14262" y="1749304"/>
                  <a:pt x="14084" y="1738440"/>
                </a:cubicBezTo>
                <a:cubicBezTo>
                  <a:pt x="12413" y="1641514"/>
                  <a:pt x="16644" y="1544587"/>
                  <a:pt x="26754" y="1448181"/>
                </a:cubicBezTo>
                <a:cubicBezTo>
                  <a:pt x="31949" y="1389038"/>
                  <a:pt x="26754" y="1329006"/>
                  <a:pt x="43478" y="1270498"/>
                </a:cubicBezTo>
                <a:cubicBezTo>
                  <a:pt x="50864" y="1241421"/>
                  <a:pt x="55109" y="1211634"/>
                  <a:pt x="56147" y="1181656"/>
                </a:cubicBezTo>
                <a:cubicBezTo>
                  <a:pt x="59948" y="1109060"/>
                  <a:pt x="38537" y="1040779"/>
                  <a:pt x="18139" y="972244"/>
                </a:cubicBezTo>
                <a:cubicBezTo>
                  <a:pt x="7370" y="935945"/>
                  <a:pt x="-5426" y="898886"/>
                  <a:pt x="2429" y="860811"/>
                </a:cubicBezTo>
                <a:cubicBezTo>
                  <a:pt x="16707" y="802251"/>
                  <a:pt x="24854" y="742359"/>
                  <a:pt x="26754" y="682112"/>
                </a:cubicBezTo>
                <a:cubicBezTo>
                  <a:pt x="26754" y="639468"/>
                  <a:pt x="16365" y="597712"/>
                  <a:pt x="20039" y="555195"/>
                </a:cubicBezTo>
                <a:cubicBezTo>
                  <a:pt x="28211" y="472712"/>
                  <a:pt x="30238" y="389734"/>
                  <a:pt x="26121" y="306946"/>
                </a:cubicBezTo>
                <a:cubicBezTo>
                  <a:pt x="26095" y="273846"/>
                  <a:pt x="29846" y="240848"/>
                  <a:pt x="37270" y="208585"/>
                </a:cubicBezTo>
                <a:cubicBezTo>
                  <a:pt x="46506" y="151651"/>
                  <a:pt x="48419" y="93777"/>
                  <a:pt x="42971" y="36360"/>
                </a:cubicBezTo>
                <a:lnTo>
                  <a:pt x="38853" y="8429"/>
                </a:lnTo>
                <a:lnTo>
                  <a:pt x="56649" y="7824"/>
                </a:lnTo>
                <a:cubicBezTo>
                  <a:pt x="210497" y="-156"/>
                  <a:pt x="364754" y="3162"/>
                  <a:pt x="518087" y="17748"/>
                </a:cubicBezTo>
                <a:cubicBezTo>
                  <a:pt x="626567" y="25440"/>
                  <a:pt x="735534" y="24213"/>
                  <a:pt x="843809" y="14092"/>
                </a:cubicBezTo>
                <a:cubicBezTo>
                  <a:pt x="1042499" y="-1711"/>
                  <a:pt x="1240782" y="10958"/>
                  <a:pt x="1439065" y="21666"/>
                </a:cubicBezTo>
                <a:cubicBezTo>
                  <a:pt x="1631105" y="32113"/>
                  <a:pt x="1823010" y="24408"/>
                  <a:pt x="2015050" y="17487"/>
                </a:cubicBezTo>
                <a:cubicBezTo>
                  <a:pt x="2157045" y="12394"/>
                  <a:pt x="2299420" y="249"/>
                  <a:pt x="2441891" y="4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6F94200-2830-8EA1-6905-F7311F29AF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490" y="441064"/>
            <a:ext cx="4023360" cy="1344705"/>
          </a:xfrm>
        </p:spPr>
        <p:txBody>
          <a:bodyPr>
            <a:normAutofit/>
          </a:bodyPr>
          <a:lstStyle/>
          <a:p>
            <a:r>
              <a:rPr lang="en-US" dirty="0" err="1"/>
              <a:t>EpiGen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647B9-8267-FB05-725A-F92A4D8DC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850" y="3224605"/>
            <a:ext cx="5776856" cy="1847627"/>
          </a:xfrm>
        </p:spPr>
        <p:txBody>
          <a:bodyPr>
            <a:normAutofit/>
          </a:bodyPr>
          <a:lstStyle/>
          <a:p>
            <a:r>
              <a:rPr lang="en-US" dirty="0"/>
              <a:t>Denny Trimcev, </a:t>
            </a:r>
            <a:r>
              <a:rPr lang="en-US" dirty="0" err="1"/>
              <a:t>PostDoc</a:t>
            </a:r>
            <a:r>
              <a:rPr lang="en-US" dirty="0"/>
              <a:t> @ </a:t>
            </a:r>
            <a:r>
              <a:rPr lang="en-US" dirty="0" err="1"/>
              <a:t>AndinoLab</a:t>
            </a:r>
            <a:r>
              <a:rPr lang="en-US" dirty="0"/>
              <a:t>, UCSF</a:t>
            </a:r>
          </a:p>
          <a:p>
            <a:r>
              <a:rPr lang="en-US" dirty="0"/>
              <a:t>Aru Singh @</a:t>
            </a:r>
            <a:r>
              <a:rPr lang="en-US" dirty="0" err="1"/>
              <a:t>arubikscube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018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94842B0-684D-44CC-B4BC-D13331CFD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4C2A3DC3-F495-4B99-9FF3-3FB30D632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6ECEBD2D-7471-5870-3686-BC4057C7A3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25" r="29074"/>
          <a:stretch>
            <a:fillRect/>
          </a:stretch>
        </p:blipFill>
        <p:spPr>
          <a:xfrm>
            <a:off x="6278880" y="36038"/>
            <a:ext cx="5680223" cy="6824882"/>
          </a:xfrm>
          <a:custGeom>
            <a:avLst/>
            <a:gdLst/>
            <a:ahLst/>
            <a:cxnLst/>
            <a:rect l="l" t="t" r="r" b="b"/>
            <a:pathLst>
              <a:path w="4047645" h="2495811">
                <a:moveTo>
                  <a:pt x="2441891" y="4"/>
                </a:moveTo>
                <a:cubicBezTo>
                  <a:pt x="2489381" y="-78"/>
                  <a:pt x="2536882" y="1163"/>
                  <a:pt x="2584383" y="4428"/>
                </a:cubicBezTo>
                <a:cubicBezTo>
                  <a:pt x="2744314" y="17813"/>
                  <a:pt x="2904989" y="21079"/>
                  <a:pt x="3065367" y="14222"/>
                </a:cubicBezTo>
                <a:cubicBezTo>
                  <a:pt x="3194244" y="5694"/>
                  <a:pt x="3323514" y="4206"/>
                  <a:pt x="3452568" y="9782"/>
                </a:cubicBezTo>
                <a:cubicBezTo>
                  <a:pt x="3572813" y="16442"/>
                  <a:pt x="3693059" y="23233"/>
                  <a:pt x="3813712" y="19315"/>
                </a:cubicBezTo>
                <a:cubicBezTo>
                  <a:pt x="3861755" y="17748"/>
                  <a:pt x="3909121" y="15789"/>
                  <a:pt x="3956758" y="13177"/>
                </a:cubicBezTo>
                <a:lnTo>
                  <a:pt x="4047645" y="9696"/>
                </a:lnTo>
                <a:lnTo>
                  <a:pt x="4047645" y="2495811"/>
                </a:lnTo>
                <a:lnTo>
                  <a:pt x="28177" y="2495811"/>
                </a:lnTo>
                <a:lnTo>
                  <a:pt x="28782" y="2485852"/>
                </a:lnTo>
                <a:cubicBezTo>
                  <a:pt x="31911" y="2365446"/>
                  <a:pt x="35027" y="2245002"/>
                  <a:pt x="38157" y="2124521"/>
                </a:cubicBezTo>
                <a:cubicBezTo>
                  <a:pt x="38284" y="2119444"/>
                  <a:pt x="39171" y="2114494"/>
                  <a:pt x="39171" y="2109417"/>
                </a:cubicBezTo>
                <a:cubicBezTo>
                  <a:pt x="48166" y="1995573"/>
                  <a:pt x="53107" y="1881729"/>
                  <a:pt x="18899" y="1770550"/>
                </a:cubicBezTo>
                <a:cubicBezTo>
                  <a:pt x="15871" y="1760104"/>
                  <a:pt x="14262" y="1749304"/>
                  <a:pt x="14084" y="1738440"/>
                </a:cubicBezTo>
                <a:cubicBezTo>
                  <a:pt x="12413" y="1641514"/>
                  <a:pt x="16644" y="1544587"/>
                  <a:pt x="26754" y="1448181"/>
                </a:cubicBezTo>
                <a:cubicBezTo>
                  <a:pt x="31949" y="1389038"/>
                  <a:pt x="26754" y="1329006"/>
                  <a:pt x="43478" y="1270498"/>
                </a:cubicBezTo>
                <a:cubicBezTo>
                  <a:pt x="50864" y="1241421"/>
                  <a:pt x="55109" y="1211634"/>
                  <a:pt x="56147" y="1181656"/>
                </a:cubicBezTo>
                <a:cubicBezTo>
                  <a:pt x="59948" y="1109060"/>
                  <a:pt x="38537" y="1040779"/>
                  <a:pt x="18139" y="972244"/>
                </a:cubicBezTo>
                <a:cubicBezTo>
                  <a:pt x="7370" y="935945"/>
                  <a:pt x="-5426" y="898886"/>
                  <a:pt x="2429" y="860811"/>
                </a:cubicBezTo>
                <a:cubicBezTo>
                  <a:pt x="16707" y="802251"/>
                  <a:pt x="24854" y="742359"/>
                  <a:pt x="26754" y="682112"/>
                </a:cubicBezTo>
                <a:cubicBezTo>
                  <a:pt x="26754" y="639468"/>
                  <a:pt x="16365" y="597712"/>
                  <a:pt x="20039" y="555195"/>
                </a:cubicBezTo>
                <a:cubicBezTo>
                  <a:pt x="28211" y="472712"/>
                  <a:pt x="30238" y="389734"/>
                  <a:pt x="26121" y="306946"/>
                </a:cubicBezTo>
                <a:cubicBezTo>
                  <a:pt x="26095" y="273846"/>
                  <a:pt x="29846" y="240848"/>
                  <a:pt x="37270" y="208585"/>
                </a:cubicBezTo>
                <a:cubicBezTo>
                  <a:pt x="46506" y="151651"/>
                  <a:pt x="48419" y="93777"/>
                  <a:pt x="42971" y="36360"/>
                </a:cubicBezTo>
                <a:lnTo>
                  <a:pt x="38853" y="8429"/>
                </a:lnTo>
                <a:lnTo>
                  <a:pt x="56649" y="7824"/>
                </a:lnTo>
                <a:cubicBezTo>
                  <a:pt x="210497" y="-156"/>
                  <a:pt x="364754" y="3162"/>
                  <a:pt x="518087" y="17748"/>
                </a:cubicBezTo>
                <a:cubicBezTo>
                  <a:pt x="626567" y="25440"/>
                  <a:pt x="735534" y="24213"/>
                  <a:pt x="843809" y="14092"/>
                </a:cubicBezTo>
                <a:cubicBezTo>
                  <a:pt x="1042499" y="-1711"/>
                  <a:pt x="1240782" y="10958"/>
                  <a:pt x="1439065" y="21666"/>
                </a:cubicBezTo>
                <a:cubicBezTo>
                  <a:pt x="1631105" y="32113"/>
                  <a:pt x="1823010" y="24408"/>
                  <a:pt x="2015050" y="17487"/>
                </a:cubicBezTo>
                <a:cubicBezTo>
                  <a:pt x="2157045" y="12394"/>
                  <a:pt x="2299420" y="249"/>
                  <a:pt x="2441891" y="4"/>
                </a:cubicBezTo>
                <a:close/>
              </a:path>
            </a:pathLst>
          </a:cu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889D664-0316-AFFA-C216-C75CDE56D9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28"/>
          <a:stretch>
            <a:fillRect/>
          </a:stretch>
        </p:blipFill>
        <p:spPr>
          <a:xfrm>
            <a:off x="9355305" y="3185289"/>
            <a:ext cx="3222891" cy="3337303"/>
          </a:xfrm>
          <a:custGeom>
            <a:avLst/>
            <a:gdLst/>
            <a:ahLst/>
            <a:cxnLst/>
            <a:rect l="l" t="t" r="r" b="b"/>
            <a:pathLst>
              <a:path w="4035547" h="4178808">
                <a:moveTo>
                  <a:pt x="14988" y="0"/>
                </a:moveTo>
                <a:lnTo>
                  <a:pt x="4035547" y="0"/>
                </a:lnTo>
                <a:lnTo>
                  <a:pt x="4035547" y="4161794"/>
                </a:lnTo>
                <a:lnTo>
                  <a:pt x="3918602" y="4164199"/>
                </a:lnTo>
                <a:cubicBezTo>
                  <a:pt x="3673497" y="4178956"/>
                  <a:pt x="3428120" y="4172295"/>
                  <a:pt x="3183014" y="4175560"/>
                </a:cubicBezTo>
                <a:cubicBezTo>
                  <a:pt x="2855121" y="4180001"/>
                  <a:pt x="2527499" y="4168639"/>
                  <a:pt x="2199742" y="4167595"/>
                </a:cubicBezTo>
                <a:cubicBezTo>
                  <a:pt x="2132562" y="4167334"/>
                  <a:pt x="2065110" y="4170729"/>
                  <a:pt x="1998202" y="4175952"/>
                </a:cubicBezTo>
                <a:cubicBezTo>
                  <a:pt x="1905507" y="4183005"/>
                  <a:pt x="1814033" y="4174124"/>
                  <a:pt x="1722153" y="4165766"/>
                </a:cubicBezTo>
                <a:cubicBezTo>
                  <a:pt x="1611407" y="4155711"/>
                  <a:pt x="1500933" y="4164591"/>
                  <a:pt x="1390867" y="4176214"/>
                </a:cubicBezTo>
                <a:lnTo>
                  <a:pt x="1348076" y="4178808"/>
                </a:lnTo>
                <a:lnTo>
                  <a:pt x="597587" y="4178808"/>
                </a:lnTo>
                <a:lnTo>
                  <a:pt x="507890" y="4175773"/>
                </a:lnTo>
                <a:cubicBezTo>
                  <a:pt x="403218" y="4174810"/>
                  <a:pt x="298546" y="4175691"/>
                  <a:pt x="193840" y="4176214"/>
                </a:cubicBezTo>
                <a:lnTo>
                  <a:pt x="2757" y="4175742"/>
                </a:lnTo>
                <a:lnTo>
                  <a:pt x="2810" y="4034870"/>
                </a:lnTo>
                <a:cubicBezTo>
                  <a:pt x="5629" y="3979851"/>
                  <a:pt x="10539" y="3924896"/>
                  <a:pt x="15416" y="3870068"/>
                </a:cubicBezTo>
                <a:cubicBezTo>
                  <a:pt x="23018" y="3799731"/>
                  <a:pt x="25045" y="3728899"/>
                  <a:pt x="21498" y="3658244"/>
                </a:cubicBezTo>
                <a:cubicBezTo>
                  <a:pt x="17063" y="3602147"/>
                  <a:pt x="10095" y="3546050"/>
                  <a:pt x="8828" y="3489953"/>
                </a:cubicBezTo>
                <a:cubicBezTo>
                  <a:pt x="6548" y="3389688"/>
                  <a:pt x="7434" y="3289424"/>
                  <a:pt x="13262" y="3189160"/>
                </a:cubicBezTo>
                <a:cubicBezTo>
                  <a:pt x="16176" y="3138901"/>
                  <a:pt x="20864" y="3089150"/>
                  <a:pt x="22891" y="3038510"/>
                </a:cubicBezTo>
                <a:cubicBezTo>
                  <a:pt x="24918" y="2987870"/>
                  <a:pt x="28973" y="2936723"/>
                  <a:pt x="17444" y="2887098"/>
                </a:cubicBezTo>
                <a:cubicBezTo>
                  <a:pt x="-2068" y="2802699"/>
                  <a:pt x="12249" y="2718680"/>
                  <a:pt x="16430" y="2634534"/>
                </a:cubicBezTo>
                <a:cubicBezTo>
                  <a:pt x="18964" y="2582244"/>
                  <a:pt x="34168" y="2528685"/>
                  <a:pt x="20738" y="2477919"/>
                </a:cubicBezTo>
                <a:cubicBezTo>
                  <a:pt x="-421" y="2398342"/>
                  <a:pt x="13389" y="2320415"/>
                  <a:pt x="20738" y="2242107"/>
                </a:cubicBezTo>
                <a:cubicBezTo>
                  <a:pt x="29213" y="2168001"/>
                  <a:pt x="27718" y="2093082"/>
                  <a:pt x="16303" y="2019369"/>
                </a:cubicBezTo>
                <a:cubicBezTo>
                  <a:pt x="1986" y="1946239"/>
                  <a:pt x="1986" y="1871028"/>
                  <a:pt x="16303" y="1797899"/>
                </a:cubicBezTo>
                <a:cubicBezTo>
                  <a:pt x="28162" y="1737537"/>
                  <a:pt x="29530" y="1675589"/>
                  <a:pt x="20357" y="1614758"/>
                </a:cubicBezTo>
                <a:cubicBezTo>
                  <a:pt x="14149" y="1571226"/>
                  <a:pt x="3000" y="1527947"/>
                  <a:pt x="1480" y="1484415"/>
                </a:cubicBezTo>
                <a:cubicBezTo>
                  <a:pt x="-1662" y="1393377"/>
                  <a:pt x="200" y="1302238"/>
                  <a:pt x="7055" y="1211417"/>
                </a:cubicBezTo>
                <a:cubicBezTo>
                  <a:pt x="15036" y="1107980"/>
                  <a:pt x="30366" y="1004923"/>
                  <a:pt x="19724" y="900725"/>
                </a:cubicBezTo>
                <a:cubicBezTo>
                  <a:pt x="16050" y="864934"/>
                  <a:pt x="8575" y="829270"/>
                  <a:pt x="7815" y="793353"/>
                </a:cubicBezTo>
                <a:cubicBezTo>
                  <a:pt x="6168" y="726087"/>
                  <a:pt x="5407" y="659710"/>
                  <a:pt x="9208" y="590286"/>
                </a:cubicBezTo>
                <a:cubicBezTo>
                  <a:pt x="13009" y="520863"/>
                  <a:pt x="27452" y="450424"/>
                  <a:pt x="17697" y="382270"/>
                </a:cubicBezTo>
                <a:cubicBezTo>
                  <a:pt x="7941" y="314115"/>
                  <a:pt x="14276" y="247103"/>
                  <a:pt x="20611" y="180218"/>
                </a:cubicBezTo>
                <a:cubicBezTo>
                  <a:pt x="23652" y="148426"/>
                  <a:pt x="25711" y="116982"/>
                  <a:pt x="25156" y="85665"/>
                </a:cubicBezTo>
                <a:close/>
              </a:path>
            </a:pathLst>
          </a:custGeom>
        </p:spPr>
      </p:pic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F6140F77-527B-023D-6DA1-3F58C9E67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4609" y="5719893"/>
            <a:ext cx="10515600" cy="435133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270D12-02AB-CCA5-6B16-ED943D17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6600" dirty="0" err="1"/>
              <a:t>EpiGen</a:t>
            </a:r>
            <a:r>
              <a:rPr lang="en-US" sz="6600" dirty="0"/>
              <a:t>: the Goal</a:t>
            </a:r>
          </a:p>
        </p:txBody>
      </p:sp>
    </p:spTree>
    <p:extLst>
      <p:ext uri="{BB962C8B-B14F-4D97-AF65-F5344CB8AC3E}">
        <p14:creationId xmlns:p14="http://schemas.microsoft.com/office/powerpoint/2010/main" val="27658641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39753-1D87-51E5-0D5A-2708F8453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1E3F494-F473-F700-C73D-0BD569356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7AD54A-8C54-7674-10C6-0ECCD58D4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6600"/>
              <a:t>EpiGen: the Goal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F27364FA-811F-56E9-2199-20EB80A46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15A7C2-6897-3AAB-D972-661448836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907932"/>
          </a:xfrm>
        </p:spPr>
        <p:txBody>
          <a:bodyPr>
            <a:noAutofit/>
          </a:bodyPr>
          <a:lstStyle/>
          <a:p>
            <a:r>
              <a:rPr lang="en-US" sz="2200" dirty="0"/>
              <a:t>Given </a:t>
            </a:r>
          </a:p>
          <a:p>
            <a:pPr lvl="1"/>
            <a:r>
              <a:rPr lang="en-US" sz="2200" dirty="0"/>
              <a:t>A protein</a:t>
            </a:r>
          </a:p>
          <a:p>
            <a:pPr lvl="1"/>
            <a:r>
              <a:rPr lang="en-US" sz="2200" dirty="0"/>
              <a:t>An edit (</a:t>
            </a:r>
            <a:r>
              <a:rPr lang="en-US" sz="2200" dirty="0" err="1"/>
              <a:t>ie</a:t>
            </a:r>
            <a:r>
              <a:rPr lang="en-US" sz="2200" dirty="0"/>
              <a:t> subs XXX-&gt;WHS)</a:t>
            </a:r>
          </a:p>
          <a:p>
            <a:r>
              <a:rPr lang="en-US" sz="2200" dirty="0"/>
              <a:t>Most mutations are deleterious!</a:t>
            </a:r>
          </a:p>
          <a:p>
            <a:r>
              <a:rPr lang="en-US" sz="2200" dirty="0"/>
              <a:t>Find compensatory mutations to</a:t>
            </a:r>
            <a:br>
              <a:rPr lang="en-US" sz="2200" dirty="0"/>
            </a:br>
            <a:r>
              <a:rPr lang="en-US" sz="2200" dirty="0"/>
              <a:t>lock the edit in!</a:t>
            </a:r>
          </a:p>
          <a:p>
            <a:r>
              <a:rPr lang="en-US" sz="2200" dirty="0"/>
              <a:t>Why?</a:t>
            </a:r>
          </a:p>
          <a:p>
            <a:r>
              <a:rPr lang="en-US" sz="2200" dirty="0"/>
              <a:t>@</a:t>
            </a:r>
            <a:r>
              <a:rPr lang="en-US" sz="2200" dirty="0" err="1"/>
              <a:t>AndinoLab</a:t>
            </a:r>
            <a:r>
              <a:rPr lang="en-US" sz="2200" dirty="0"/>
              <a:t>: engineer loss</a:t>
            </a:r>
            <a:br>
              <a:rPr lang="en-US" sz="2200" dirty="0"/>
            </a:br>
            <a:r>
              <a:rPr lang="en-US" sz="2200" dirty="0"/>
              <a:t>of function in viruses to create new vaccines. </a:t>
            </a:r>
            <a:br>
              <a:rPr lang="en-US" sz="2200" dirty="0"/>
            </a:br>
            <a:r>
              <a:rPr lang="en-US" sz="2200" dirty="0"/>
              <a:t>Talk to me if you’re interested!</a:t>
            </a:r>
          </a:p>
        </p:txBody>
      </p:sp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4ECB7661-4261-074D-EC8C-E2DF83FCB4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25" r="29074"/>
          <a:stretch>
            <a:fillRect/>
          </a:stretch>
        </p:blipFill>
        <p:spPr>
          <a:xfrm>
            <a:off x="6863239" y="625784"/>
            <a:ext cx="4912984" cy="5903032"/>
          </a:xfrm>
          <a:custGeom>
            <a:avLst/>
            <a:gdLst/>
            <a:ahLst/>
            <a:cxnLst/>
            <a:rect l="l" t="t" r="r" b="b"/>
            <a:pathLst>
              <a:path w="4047645" h="2495811">
                <a:moveTo>
                  <a:pt x="2441891" y="4"/>
                </a:moveTo>
                <a:cubicBezTo>
                  <a:pt x="2489381" y="-78"/>
                  <a:pt x="2536882" y="1163"/>
                  <a:pt x="2584383" y="4428"/>
                </a:cubicBezTo>
                <a:cubicBezTo>
                  <a:pt x="2744314" y="17813"/>
                  <a:pt x="2904989" y="21079"/>
                  <a:pt x="3065367" y="14222"/>
                </a:cubicBezTo>
                <a:cubicBezTo>
                  <a:pt x="3194244" y="5694"/>
                  <a:pt x="3323514" y="4206"/>
                  <a:pt x="3452568" y="9782"/>
                </a:cubicBezTo>
                <a:cubicBezTo>
                  <a:pt x="3572813" y="16442"/>
                  <a:pt x="3693059" y="23233"/>
                  <a:pt x="3813712" y="19315"/>
                </a:cubicBezTo>
                <a:cubicBezTo>
                  <a:pt x="3861755" y="17748"/>
                  <a:pt x="3909121" y="15789"/>
                  <a:pt x="3956758" y="13177"/>
                </a:cubicBezTo>
                <a:lnTo>
                  <a:pt x="4047645" y="9696"/>
                </a:lnTo>
                <a:lnTo>
                  <a:pt x="4047645" y="2495811"/>
                </a:lnTo>
                <a:lnTo>
                  <a:pt x="28177" y="2495811"/>
                </a:lnTo>
                <a:lnTo>
                  <a:pt x="28782" y="2485852"/>
                </a:lnTo>
                <a:cubicBezTo>
                  <a:pt x="31911" y="2365446"/>
                  <a:pt x="35027" y="2245002"/>
                  <a:pt x="38157" y="2124521"/>
                </a:cubicBezTo>
                <a:cubicBezTo>
                  <a:pt x="38284" y="2119444"/>
                  <a:pt x="39171" y="2114494"/>
                  <a:pt x="39171" y="2109417"/>
                </a:cubicBezTo>
                <a:cubicBezTo>
                  <a:pt x="48166" y="1995573"/>
                  <a:pt x="53107" y="1881729"/>
                  <a:pt x="18899" y="1770550"/>
                </a:cubicBezTo>
                <a:cubicBezTo>
                  <a:pt x="15871" y="1760104"/>
                  <a:pt x="14262" y="1749304"/>
                  <a:pt x="14084" y="1738440"/>
                </a:cubicBezTo>
                <a:cubicBezTo>
                  <a:pt x="12413" y="1641514"/>
                  <a:pt x="16644" y="1544587"/>
                  <a:pt x="26754" y="1448181"/>
                </a:cubicBezTo>
                <a:cubicBezTo>
                  <a:pt x="31949" y="1389038"/>
                  <a:pt x="26754" y="1329006"/>
                  <a:pt x="43478" y="1270498"/>
                </a:cubicBezTo>
                <a:cubicBezTo>
                  <a:pt x="50864" y="1241421"/>
                  <a:pt x="55109" y="1211634"/>
                  <a:pt x="56147" y="1181656"/>
                </a:cubicBezTo>
                <a:cubicBezTo>
                  <a:pt x="59948" y="1109060"/>
                  <a:pt x="38537" y="1040779"/>
                  <a:pt x="18139" y="972244"/>
                </a:cubicBezTo>
                <a:cubicBezTo>
                  <a:pt x="7370" y="935945"/>
                  <a:pt x="-5426" y="898886"/>
                  <a:pt x="2429" y="860811"/>
                </a:cubicBezTo>
                <a:cubicBezTo>
                  <a:pt x="16707" y="802251"/>
                  <a:pt x="24854" y="742359"/>
                  <a:pt x="26754" y="682112"/>
                </a:cubicBezTo>
                <a:cubicBezTo>
                  <a:pt x="26754" y="639468"/>
                  <a:pt x="16365" y="597712"/>
                  <a:pt x="20039" y="555195"/>
                </a:cubicBezTo>
                <a:cubicBezTo>
                  <a:pt x="28211" y="472712"/>
                  <a:pt x="30238" y="389734"/>
                  <a:pt x="26121" y="306946"/>
                </a:cubicBezTo>
                <a:cubicBezTo>
                  <a:pt x="26095" y="273846"/>
                  <a:pt x="29846" y="240848"/>
                  <a:pt x="37270" y="208585"/>
                </a:cubicBezTo>
                <a:cubicBezTo>
                  <a:pt x="46506" y="151651"/>
                  <a:pt x="48419" y="93777"/>
                  <a:pt x="42971" y="36360"/>
                </a:cubicBezTo>
                <a:lnTo>
                  <a:pt x="38853" y="8429"/>
                </a:lnTo>
                <a:lnTo>
                  <a:pt x="56649" y="7824"/>
                </a:lnTo>
                <a:cubicBezTo>
                  <a:pt x="210497" y="-156"/>
                  <a:pt x="364754" y="3162"/>
                  <a:pt x="518087" y="17748"/>
                </a:cubicBezTo>
                <a:cubicBezTo>
                  <a:pt x="626567" y="25440"/>
                  <a:pt x="735534" y="24213"/>
                  <a:pt x="843809" y="14092"/>
                </a:cubicBezTo>
                <a:cubicBezTo>
                  <a:pt x="1042499" y="-1711"/>
                  <a:pt x="1240782" y="10958"/>
                  <a:pt x="1439065" y="21666"/>
                </a:cubicBezTo>
                <a:cubicBezTo>
                  <a:pt x="1631105" y="32113"/>
                  <a:pt x="1823010" y="24408"/>
                  <a:pt x="2015050" y="17487"/>
                </a:cubicBezTo>
                <a:cubicBezTo>
                  <a:pt x="2157045" y="12394"/>
                  <a:pt x="2299420" y="249"/>
                  <a:pt x="2441891" y="4"/>
                </a:cubicBezTo>
                <a:close/>
              </a:path>
            </a:pathLst>
          </a:cu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E48C9B2-CA1E-1655-C015-36F373AD727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28"/>
          <a:stretch>
            <a:fillRect/>
          </a:stretch>
        </p:blipFill>
        <p:spPr>
          <a:xfrm>
            <a:off x="9607747" y="3303961"/>
            <a:ext cx="2787569" cy="2886527"/>
          </a:xfrm>
          <a:custGeom>
            <a:avLst/>
            <a:gdLst/>
            <a:ahLst/>
            <a:cxnLst/>
            <a:rect l="l" t="t" r="r" b="b"/>
            <a:pathLst>
              <a:path w="4035547" h="4178808">
                <a:moveTo>
                  <a:pt x="14988" y="0"/>
                </a:moveTo>
                <a:lnTo>
                  <a:pt x="4035547" y="0"/>
                </a:lnTo>
                <a:lnTo>
                  <a:pt x="4035547" y="4161794"/>
                </a:lnTo>
                <a:lnTo>
                  <a:pt x="3918602" y="4164199"/>
                </a:lnTo>
                <a:cubicBezTo>
                  <a:pt x="3673497" y="4178956"/>
                  <a:pt x="3428120" y="4172295"/>
                  <a:pt x="3183014" y="4175560"/>
                </a:cubicBezTo>
                <a:cubicBezTo>
                  <a:pt x="2855121" y="4180001"/>
                  <a:pt x="2527499" y="4168639"/>
                  <a:pt x="2199742" y="4167595"/>
                </a:cubicBezTo>
                <a:cubicBezTo>
                  <a:pt x="2132562" y="4167334"/>
                  <a:pt x="2065110" y="4170729"/>
                  <a:pt x="1998202" y="4175952"/>
                </a:cubicBezTo>
                <a:cubicBezTo>
                  <a:pt x="1905507" y="4183005"/>
                  <a:pt x="1814033" y="4174124"/>
                  <a:pt x="1722153" y="4165766"/>
                </a:cubicBezTo>
                <a:cubicBezTo>
                  <a:pt x="1611407" y="4155711"/>
                  <a:pt x="1500933" y="4164591"/>
                  <a:pt x="1390867" y="4176214"/>
                </a:cubicBezTo>
                <a:lnTo>
                  <a:pt x="1348076" y="4178808"/>
                </a:lnTo>
                <a:lnTo>
                  <a:pt x="597587" y="4178808"/>
                </a:lnTo>
                <a:lnTo>
                  <a:pt x="507890" y="4175773"/>
                </a:lnTo>
                <a:cubicBezTo>
                  <a:pt x="403218" y="4174810"/>
                  <a:pt x="298546" y="4175691"/>
                  <a:pt x="193840" y="4176214"/>
                </a:cubicBezTo>
                <a:lnTo>
                  <a:pt x="2757" y="4175742"/>
                </a:lnTo>
                <a:lnTo>
                  <a:pt x="2810" y="4034870"/>
                </a:lnTo>
                <a:cubicBezTo>
                  <a:pt x="5629" y="3979851"/>
                  <a:pt x="10539" y="3924896"/>
                  <a:pt x="15416" y="3870068"/>
                </a:cubicBezTo>
                <a:cubicBezTo>
                  <a:pt x="23018" y="3799731"/>
                  <a:pt x="25045" y="3728899"/>
                  <a:pt x="21498" y="3658244"/>
                </a:cubicBezTo>
                <a:cubicBezTo>
                  <a:pt x="17063" y="3602147"/>
                  <a:pt x="10095" y="3546050"/>
                  <a:pt x="8828" y="3489953"/>
                </a:cubicBezTo>
                <a:cubicBezTo>
                  <a:pt x="6548" y="3389688"/>
                  <a:pt x="7434" y="3289424"/>
                  <a:pt x="13262" y="3189160"/>
                </a:cubicBezTo>
                <a:cubicBezTo>
                  <a:pt x="16176" y="3138901"/>
                  <a:pt x="20864" y="3089150"/>
                  <a:pt x="22891" y="3038510"/>
                </a:cubicBezTo>
                <a:cubicBezTo>
                  <a:pt x="24918" y="2987870"/>
                  <a:pt x="28973" y="2936723"/>
                  <a:pt x="17444" y="2887098"/>
                </a:cubicBezTo>
                <a:cubicBezTo>
                  <a:pt x="-2068" y="2802699"/>
                  <a:pt x="12249" y="2718680"/>
                  <a:pt x="16430" y="2634534"/>
                </a:cubicBezTo>
                <a:cubicBezTo>
                  <a:pt x="18964" y="2582244"/>
                  <a:pt x="34168" y="2528685"/>
                  <a:pt x="20738" y="2477919"/>
                </a:cubicBezTo>
                <a:cubicBezTo>
                  <a:pt x="-421" y="2398342"/>
                  <a:pt x="13389" y="2320415"/>
                  <a:pt x="20738" y="2242107"/>
                </a:cubicBezTo>
                <a:cubicBezTo>
                  <a:pt x="29213" y="2168001"/>
                  <a:pt x="27718" y="2093082"/>
                  <a:pt x="16303" y="2019369"/>
                </a:cubicBezTo>
                <a:cubicBezTo>
                  <a:pt x="1986" y="1946239"/>
                  <a:pt x="1986" y="1871028"/>
                  <a:pt x="16303" y="1797899"/>
                </a:cubicBezTo>
                <a:cubicBezTo>
                  <a:pt x="28162" y="1737537"/>
                  <a:pt x="29530" y="1675589"/>
                  <a:pt x="20357" y="1614758"/>
                </a:cubicBezTo>
                <a:cubicBezTo>
                  <a:pt x="14149" y="1571226"/>
                  <a:pt x="3000" y="1527947"/>
                  <a:pt x="1480" y="1484415"/>
                </a:cubicBezTo>
                <a:cubicBezTo>
                  <a:pt x="-1662" y="1393377"/>
                  <a:pt x="200" y="1302238"/>
                  <a:pt x="7055" y="1211417"/>
                </a:cubicBezTo>
                <a:cubicBezTo>
                  <a:pt x="15036" y="1107980"/>
                  <a:pt x="30366" y="1004923"/>
                  <a:pt x="19724" y="900725"/>
                </a:cubicBezTo>
                <a:cubicBezTo>
                  <a:pt x="16050" y="864934"/>
                  <a:pt x="8575" y="829270"/>
                  <a:pt x="7815" y="793353"/>
                </a:cubicBezTo>
                <a:cubicBezTo>
                  <a:pt x="6168" y="726087"/>
                  <a:pt x="5407" y="659710"/>
                  <a:pt x="9208" y="590286"/>
                </a:cubicBezTo>
                <a:cubicBezTo>
                  <a:pt x="13009" y="520863"/>
                  <a:pt x="27452" y="450424"/>
                  <a:pt x="17697" y="382270"/>
                </a:cubicBezTo>
                <a:cubicBezTo>
                  <a:pt x="7941" y="314115"/>
                  <a:pt x="14276" y="247103"/>
                  <a:pt x="20611" y="180218"/>
                </a:cubicBezTo>
                <a:cubicBezTo>
                  <a:pt x="23652" y="148426"/>
                  <a:pt x="25711" y="116982"/>
                  <a:pt x="25156" y="8566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63228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2BFEA-CA0D-9194-CE85-8DE9D9D3F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E3ED7B9-0C69-F9B3-08A0-28AA24C85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703A27-027A-1B77-C802-DAA1534DF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6600" dirty="0"/>
              <a:t>Pipeline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1C99FC40-3269-4AE6-6530-587534A6F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7765A8-0DC4-8172-65AC-C37ED9EB46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909" y="1199407"/>
            <a:ext cx="5699952" cy="5049507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1C4E1C2-FFE5-D70B-E3F2-CCDE22AFC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anchor="ctr">
            <a:normAutofit/>
          </a:bodyPr>
          <a:lstStyle/>
          <a:p>
            <a:r>
              <a:rPr lang="en-US" sz="2000" dirty="0" err="1"/>
              <a:t>Streamlit</a:t>
            </a:r>
            <a:r>
              <a:rPr lang="en-US" sz="2000" dirty="0"/>
              <a:t> app</a:t>
            </a:r>
          </a:p>
        </p:txBody>
      </p:sp>
    </p:spTree>
    <p:extLst>
      <p:ext uri="{BB962C8B-B14F-4D97-AF65-F5344CB8AC3E}">
        <p14:creationId xmlns:p14="http://schemas.microsoft.com/office/powerpoint/2010/main" val="2007673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4F8B40-3C6F-E01F-5745-B9E6902F8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D22A26D-EA44-E9B7-E882-8CA1160EE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79FED-5949-1B45-B1A1-483CC970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6600" dirty="0"/>
              <a:t>Optimizer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7368457-936F-CB97-D452-E65BAA8C4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826A1B86-04E5-244C-637B-6552A7D3A2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525" r="29074"/>
          <a:stretch>
            <a:fillRect/>
          </a:stretch>
        </p:blipFill>
        <p:spPr>
          <a:xfrm>
            <a:off x="6863239" y="625784"/>
            <a:ext cx="4912984" cy="5903032"/>
          </a:xfrm>
          <a:custGeom>
            <a:avLst/>
            <a:gdLst/>
            <a:ahLst/>
            <a:cxnLst/>
            <a:rect l="l" t="t" r="r" b="b"/>
            <a:pathLst>
              <a:path w="4047645" h="2495811">
                <a:moveTo>
                  <a:pt x="2441891" y="4"/>
                </a:moveTo>
                <a:cubicBezTo>
                  <a:pt x="2489381" y="-78"/>
                  <a:pt x="2536882" y="1163"/>
                  <a:pt x="2584383" y="4428"/>
                </a:cubicBezTo>
                <a:cubicBezTo>
                  <a:pt x="2744314" y="17813"/>
                  <a:pt x="2904989" y="21079"/>
                  <a:pt x="3065367" y="14222"/>
                </a:cubicBezTo>
                <a:cubicBezTo>
                  <a:pt x="3194244" y="5694"/>
                  <a:pt x="3323514" y="4206"/>
                  <a:pt x="3452568" y="9782"/>
                </a:cubicBezTo>
                <a:cubicBezTo>
                  <a:pt x="3572813" y="16442"/>
                  <a:pt x="3693059" y="23233"/>
                  <a:pt x="3813712" y="19315"/>
                </a:cubicBezTo>
                <a:cubicBezTo>
                  <a:pt x="3861755" y="17748"/>
                  <a:pt x="3909121" y="15789"/>
                  <a:pt x="3956758" y="13177"/>
                </a:cubicBezTo>
                <a:lnTo>
                  <a:pt x="4047645" y="9696"/>
                </a:lnTo>
                <a:lnTo>
                  <a:pt x="4047645" y="2495811"/>
                </a:lnTo>
                <a:lnTo>
                  <a:pt x="28177" y="2495811"/>
                </a:lnTo>
                <a:lnTo>
                  <a:pt x="28782" y="2485852"/>
                </a:lnTo>
                <a:cubicBezTo>
                  <a:pt x="31911" y="2365446"/>
                  <a:pt x="35027" y="2245002"/>
                  <a:pt x="38157" y="2124521"/>
                </a:cubicBezTo>
                <a:cubicBezTo>
                  <a:pt x="38284" y="2119444"/>
                  <a:pt x="39171" y="2114494"/>
                  <a:pt x="39171" y="2109417"/>
                </a:cubicBezTo>
                <a:cubicBezTo>
                  <a:pt x="48166" y="1995573"/>
                  <a:pt x="53107" y="1881729"/>
                  <a:pt x="18899" y="1770550"/>
                </a:cubicBezTo>
                <a:cubicBezTo>
                  <a:pt x="15871" y="1760104"/>
                  <a:pt x="14262" y="1749304"/>
                  <a:pt x="14084" y="1738440"/>
                </a:cubicBezTo>
                <a:cubicBezTo>
                  <a:pt x="12413" y="1641514"/>
                  <a:pt x="16644" y="1544587"/>
                  <a:pt x="26754" y="1448181"/>
                </a:cubicBezTo>
                <a:cubicBezTo>
                  <a:pt x="31949" y="1389038"/>
                  <a:pt x="26754" y="1329006"/>
                  <a:pt x="43478" y="1270498"/>
                </a:cubicBezTo>
                <a:cubicBezTo>
                  <a:pt x="50864" y="1241421"/>
                  <a:pt x="55109" y="1211634"/>
                  <a:pt x="56147" y="1181656"/>
                </a:cubicBezTo>
                <a:cubicBezTo>
                  <a:pt x="59948" y="1109060"/>
                  <a:pt x="38537" y="1040779"/>
                  <a:pt x="18139" y="972244"/>
                </a:cubicBezTo>
                <a:cubicBezTo>
                  <a:pt x="7370" y="935945"/>
                  <a:pt x="-5426" y="898886"/>
                  <a:pt x="2429" y="860811"/>
                </a:cubicBezTo>
                <a:cubicBezTo>
                  <a:pt x="16707" y="802251"/>
                  <a:pt x="24854" y="742359"/>
                  <a:pt x="26754" y="682112"/>
                </a:cubicBezTo>
                <a:cubicBezTo>
                  <a:pt x="26754" y="639468"/>
                  <a:pt x="16365" y="597712"/>
                  <a:pt x="20039" y="555195"/>
                </a:cubicBezTo>
                <a:cubicBezTo>
                  <a:pt x="28211" y="472712"/>
                  <a:pt x="30238" y="389734"/>
                  <a:pt x="26121" y="306946"/>
                </a:cubicBezTo>
                <a:cubicBezTo>
                  <a:pt x="26095" y="273846"/>
                  <a:pt x="29846" y="240848"/>
                  <a:pt x="37270" y="208585"/>
                </a:cubicBezTo>
                <a:cubicBezTo>
                  <a:pt x="46506" y="151651"/>
                  <a:pt x="48419" y="93777"/>
                  <a:pt x="42971" y="36360"/>
                </a:cubicBezTo>
                <a:lnTo>
                  <a:pt x="38853" y="8429"/>
                </a:lnTo>
                <a:lnTo>
                  <a:pt x="56649" y="7824"/>
                </a:lnTo>
                <a:cubicBezTo>
                  <a:pt x="210497" y="-156"/>
                  <a:pt x="364754" y="3162"/>
                  <a:pt x="518087" y="17748"/>
                </a:cubicBezTo>
                <a:cubicBezTo>
                  <a:pt x="626567" y="25440"/>
                  <a:pt x="735534" y="24213"/>
                  <a:pt x="843809" y="14092"/>
                </a:cubicBezTo>
                <a:cubicBezTo>
                  <a:pt x="1042499" y="-1711"/>
                  <a:pt x="1240782" y="10958"/>
                  <a:pt x="1439065" y="21666"/>
                </a:cubicBezTo>
                <a:cubicBezTo>
                  <a:pt x="1631105" y="32113"/>
                  <a:pt x="1823010" y="24408"/>
                  <a:pt x="2015050" y="17487"/>
                </a:cubicBezTo>
                <a:cubicBezTo>
                  <a:pt x="2157045" y="12394"/>
                  <a:pt x="2299420" y="249"/>
                  <a:pt x="2441891" y="4"/>
                </a:cubicBezTo>
                <a:close/>
              </a:path>
            </a:pathLst>
          </a:cu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E80FB45-36E0-5E26-1356-77D89B71A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Proto </a:t>
            </a:r>
          </a:p>
          <a:p>
            <a:r>
              <a:rPr lang="en-US" sz="2400" dirty="0"/>
              <a:t>Constraint: Retain Edit</a:t>
            </a:r>
          </a:p>
          <a:p>
            <a:r>
              <a:rPr lang="en-US" sz="2400" dirty="0"/>
              <a:t>Optimizer: MOE (</a:t>
            </a:r>
            <a:r>
              <a:rPr lang="en-US" sz="2400" dirty="0">
                <a:solidFill>
                  <a:srgbClr val="FF0000"/>
                </a:solidFill>
              </a:rPr>
              <a:t>ESM2 </a:t>
            </a:r>
            <a:r>
              <a:rPr lang="en-US" sz="2400" dirty="0"/>
              <a:t>+ </a:t>
            </a:r>
            <a:r>
              <a:rPr lang="en-US" sz="2400" dirty="0">
                <a:solidFill>
                  <a:srgbClr val="0070C0"/>
                </a:solidFill>
              </a:rPr>
              <a:t>PMPNN </a:t>
            </a:r>
            <a:r>
              <a:rPr lang="en-US" sz="2400" dirty="0"/>
              <a:t>+ </a:t>
            </a:r>
            <a:r>
              <a:rPr lang="en-US" sz="2400" dirty="0">
                <a:solidFill>
                  <a:srgbClr val="00B050"/>
                </a:solidFill>
              </a:rPr>
              <a:t>EVO2</a:t>
            </a:r>
            <a:r>
              <a:rPr lang="en-US" sz="2400" dirty="0"/>
              <a:t>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08F9E6-F7A7-7F18-2DBC-DC1C4783B80A}"/>
              </a:ext>
            </a:extLst>
          </p:cNvPr>
          <p:cNvCxnSpPr/>
          <p:nvPr/>
        </p:nvCxnSpPr>
        <p:spPr>
          <a:xfrm rot="5400000" flipH="1" flipV="1">
            <a:off x="7851483" y="1070095"/>
            <a:ext cx="2209388" cy="2164904"/>
          </a:xfrm>
          <a:prstGeom prst="curvedConnector3">
            <a:avLst>
              <a:gd name="adj1" fmla="val 109166"/>
            </a:avLst>
          </a:prstGeom>
          <a:ln w="508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0746DA0-6E20-1056-A04D-29ADD4157107}"/>
              </a:ext>
            </a:extLst>
          </p:cNvPr>
          <p:cNvSpPr txBox="1"/>
          <p:nvPr/>
        </p:nvSpPr>
        <p:spPr>
          <a:xfrm>
            <a:off x="7375879" y="759059"/>
            <a:ext cx="15802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Proto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E81EABC-CC7F-FB96-B009-5832C7AC9A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28"/>
          <a:stretch>
            <a:fillRect/>
          </a:stretch>
        </p:blipFill>
        <p:spPr>
          <a:xfrm>
            <a:off x="9607747" y="3303961"/>
            <a:ext cx="2787569" cy="2886527"/>
          </a:xfrm>
          <a:custGeom>
            <a:avLst/>
            <a:gdLst/>
            <a:ahLst/>
            <a:cxnLst/>
            <a:rect l="l" t="t" r="r" b="b"/>
            <a:pathLst>
              <a:path w="4035547" h="4178808">
                <a:moveTo>
                  <a:pt x="14988" y="0"/>
                </a:moveTo>
                <a:lnTo>
                  <a:pt x="4035547" y="0"/>
                </a:lnTo>
                <a:lnTo>
                  <a:pt x="4035547" y="4161794"/>
                </a:lnTo>
                <a:lnTo>
                  <a:pt x="3918602" y="4164199"/>
                </a:lnTo>
                <a:cubicBezTo>
                  <a:pt x="3673497" y="4178956"/>
                  <a:pt x="3428120" y="4172295"/>
                  <a:pt x="3183014" y="4175560"/>
                </a:cubicBezTo>
                <a:cubicBezTo>
                  <a:pt x="2855121" y="4180001"/>
                  <a:pt x="2527499" y="4168639"/>
                  <a:pt x="2199742" y="4167595"/>
                </a:cubicBezTo>
                <a:cubicBezTo>
                  <a:pt x="2132562" y="4167334"/>
                  <a:pt x="2065110" y="4170729"/>
                  <a:pt x="1998202" y="4175952"/>
                </a:cubicBezTo>
                <a:cubicBezTo>
                  <a:pt x="1905507" y="4183005"/>
                  <a:pt x="1814033" y="4174124"/>
                  <a:pt x="1722153" y="4165766"/>
                </a:cubicBezTo>
                <a:cubicBezTo>
                  <a:pt x="1611407" y="4155711"/>
                  <a:pt x="1500933" y="4164591"/>
                  <a:pt x="1390867" y="4176214"/>
                </a:cubicBezTo>
                <a:lnTo>
                  <a:pt x="1348076" y="4178808"/>
                </a:lnTo>
                <a:lnTo>
                  <a:pt x="597587" y="4178808"/>
                </a:lnTo>
                <a:lnTo>
                  <a:pt x="507890" y="4175773"/>
                </a:lnTo>
                <a:cubicBezTo>
                  <a:pt x="403218" y="4174810"/>
                  <a:pt x="298546" y="4175691"/>
                  <a:pt x="193840" y="4176214"/>
                </a:cubicBezTo>
                <a:lnTo>
                  <a:pt x="2757" y="4175742"/>
                </a:lnTo>
                <a:lnTo>
                  <a:pt x="2810" y="4034870"/>
                </a:lnTo>
                <a:cubicBezTo>
                  <a:pt x="5629" y="3979851"/>
                  <a:pt x="10539" y="3924896"/>
                  <a:pt x="15416" y="3870068"/>
                </a:cubicBezTo>
                <a:cubicBezTo>
                  <a:pt x="23018" y="3799731"/>
                  <a:pt x="25045" y="3728899"/>
                  <a:pt x="21498" y="3658244"/>
                </a:cubicBezTo>
                <a:cubicBezTo>
                  <a:pt x="17063" y="3602147"/>
                  <a:pt x="10095" y="3546050"/>
                  <a:pt x="8828" y="3489953"/>
                </a:cubicBezTo>
                <a:cubicBezTo>
                  <a:pt x="6548" y="3389688"/>
                  <a:pt x="7434" y="3289424"/>
                  <a:pt x="13262" y="3189160"/>
                </a:cubicBezTo>
                <a:cubicBezTo>
                  <a:pt x="16176" y="3138901"/>
                  <a:pt x="20864" y="3089150"/>
                  <a:pt x="22891" y="3038510"/>
                </a:cubicBezTo>
                <a:cubicBezTo>
                  <a:pt x="24918" y="2987870"/>
                  <a:pt x="28973" y="2936723"/>
                  <a:pt x="17444" y="2887098"/>
                </a:cubicBezTo>
                <a:cubicBezTo>
                  <a:pt x="-2068" y="2802699"/>
                  <a:pt x="12249" y="2718680"/>
                  <a:pt x="16430" y="2634534"/>
                </a:cubicBezTo>
                <a:cubicBezTo>
                  <a:pt x="18964" y="2582244"/>
                  <a:pt x="34168" y="2528685"/>
                  <a:pt x="20738" y="2477919"/>
                </a:cubicBezTo>
                <a:cubicBezTo>
                  <a:pt x="-421" y="2398342"/>
                  <a:pt x="13389" y="2320415"/>
                  <a:pt x="20738" y="2242107"/>
                </a:cubicBezTo>
                <a:cubicBezTo>
                  <a:pt x="29213" y="2168001"/>
                  <a:pt x="27718" y="2093082"/>
                  <a:pt x="16303" y="2019369"/>
                </a:cubicBezTo>
                <a:cubicBezTo>
                  <a:pt x="1986" y="1946239"/>
                  <a:pt x="1986" y="1871028"/>
                  <a:pt x="16303" y="1797899"/>
                </a:cubicBezTo>
                <a:cubicBezTo>
                  <a:pt x="28162" y="1737537"/>
                  <a:pt x="29530" y="1675589"/>
                  <a:pt x="20357" y="1614758"/>
                </a:cubicBezTo>
                <a:cubicBezTo>
                  <a:pt x="14149" y="1571226"/>
                  <a:pt x="3000" y="1527947"/>
                  <a:pt x="1480" y="1484415"/>
                </a:cubicBezTo>
                <a:cubicBezTo>
                  <a:pt x="-1662" y="1393377"/>
                  <a:pt x="200" y="1302238"/>
                  <a:pt x="7055" y="1211417"/>
                </a:cubicBezTo>
                <a:cubicBezTo>
                  <a:pt x="15036" y="1107980"/>
                  <a:pt x="30366" y="1004923"/>
                  <a:pt x="19724" y="900725"/>
                </a:cubicBezTo>
                <a:cubicBezTo>
                  <a:pt x="16050" y="864934"/>
                  <a:pt x="8575" y="829270"/>
                  <a:pt x="7815" y="793353"/>
                </a:cubicBezTo>
                <a:cubicBezTo>
                  <a:pt x="6168" y="726087"/>
                  <a:pt x="5407" y="659710"/>
                  <a:pt x="9208" y="590286"/>
                </a:cubicBezTo>
                <a:cubicBezTo>
                  <a:pt x="13009" y="520863"/>
                  <a:pt x="27452" y="450424"/>
                  <a:pt x="17697" y="382270"/>
                </a:cubicBezTo>
                <a:cubicBezTo>
                  <a:pt x="7941" y="314115"/>
                  <a:pt x="14276" y="247103"/>
                  <a:pt x="20611" y="180218"/>
                </a:cubicBezTo>
                <a:cubicBezTo>
                  <a:pt x="23652" y="148426"/>
                  <a:pt x="25711" y="116982"/>
                  <a:pt x="25156" y="8566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302916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9456C9-F615-094C-BD4B-F34E8BA4A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B83B015-61D2-6F15-D76C-8CE1493B5B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80958B-CCA7-BB15-45A0-75B7B55F7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6600" dirty="0"/>
              <a:t>Interpretability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3BF5B354-AD05-7957-67E0-5B140FFD7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0">
            <a:extLst>
              <a:ext uri="{FF2B5EF4-FFF2-40B4-BE49-F238E27FC236}">
                <a16:creationId xmlns:a16="http://schemas.microsoft.com/office/drawing/2014/main" id="{AC830950-3D22-5830-E2C4-0AE63CC76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541" y="263251"/>
            <a:ext cx="6427459" cy="6594749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F563EF8-1375-8B3C-6434-12DCFB370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Paperclip</a:t>
            </a:r>
          </a:p>
          <a:p>
            <a:pPr marL="0" indent="0">
              <a:buNone/>
            </a:pPr>
            <a:r>
              <a:rPr lang="en-US" sz="2400" dirty="0"/>
              <a:t>Search PDB in the literature for </a:t>
            </a:r>
          </a:p>
          <a:p>
            <a:r>
              <a:rPr lang="en-US" sz="2400" dirty="0"/>
              <a:t>Structural features</a:t>
            </a:r>
          </a:p>
          <a:p>
            <a:r>
              <a:rPr lang="en-US" sz="2400" dirty="0"/>
              <a:t>Functional features</a:t>
            </a:r>
          </a:p>
        </p:txBody>
      </p:sp>
    </p:spTree>
    <p:extLst>
      <p:ext uri="{BB962C8B-B14F-4D97-AF65-F5344CB8AC3E}">
        <p14:creationId xmlns:p14="http://schemas.microsoft.com/office/powerpoint/2010/main" val="512447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7FAE46-18FD-5350-2D52-63337A27D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16F2476-C560-5F59-58BD-1966DC8F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5B57BE-3B07-AAF7-003E-9E8CB676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6600" dirty="0"/>
              <a:t>Interpretability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47DA4C2B-B5FA-1565-3236-A57896494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2ACCDF7-A19E-834D-F507-A75ACCB9E1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706624"/>
                <a:ext cx="6894576" cy="3483864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dirty="0"/>
                  <a:t>ESM-SAE </a:t>
                </a:r>
              </a:p>
              <a:p>
                <a:pPr marL="0" indent="0">
                  <a:buNone/>
                </a:pPr>
                <a:r>
                  <a:rPr lang="en-US" sz="2400" dirty="0"/>
                  <a:t>Search SAE components with</a:t>
                </a:r>
                <a:br>
                  <a:rPr lang="en-US" sz="2400" dirty="0"/>
                </a:b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𝑆𝐴𝐸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𝑆𝐴𝐸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𝑐𝑜𝑚𝑝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𝑆𝐴𝐸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𝑤𝑡</m:t>
                          </m:r>
                        </m:e>
                      </m:d>
                    </m:oMath>
                  </m:oMathPara>
                </a14:m>
                <a:endParaRPr lang="en-US" sz="2400" b="0" dirty="0"/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B2ACCDF7-A19E-834D-F507-A75ACCB9E1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706624"/>
                <a:ext cx="6894576" cy="3483864"/>
              </a:xfrm>
              <a:blipFill>
                <a:blip r:embed="rId3"/>
                <a:stretch>
                  <a:fillRect l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C53C946-54A9-7060-40C4-D3BD497061D4}"/>
              </a:ext>
            </a:extLst>
          </p:cNvPr>
          <p:cNvGrpSpPr/>
          <p:nvPr/>
        </p:nvGrpSpPr>
        <p:grpSpPr>
          <a:xfrm>
            <a:off x="439701" y="1674966"/>
            <a:ext cx="12064926" cy="5145590"/>
            <a:chOff x="439701" y="1674966"/>
            <a:chExt cx="12064926" cy="514559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839342-357A-DE2F-3752-A717C84CB0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701" y="2057503"/>
              <a:ext cx="7295333" cy="47388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B47E8C48-5633-A58B-AE94-7F70B12A08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59037" y="1674966"/>
              <a:ext cx="5145590" cy="51455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1032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08F1D-FA32-43DD-0686-80A7ED190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CD02C-F03A-5699-A7DE-FF696742D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6600" dirty="0"/>
              <a:t>Interpretability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3F412E4-42CF-97BA-DE2C-D1A0CAFAB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427459" cy="348386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Physical Cross Check</a:t>
            </a:r>
          </a:p>
          <a:p>
            <a:pPr marL="0" indent="0">
              <a:buNone/>
            </a:pPr>
            <a:r>
              <a:rPr lang="en-US" sz="2400" dirty="0"/>
              <a:t>Compute physical interaction energy between diff’d AA &amp; old AA</a:t>
            </a:r>
            <a:endParaRPr lang="en-US" sz="2400" b="0" dirty="0"/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3B76C1A-A314-4E30-DB03-D281944F2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43" y="2112264"/>
            <a:ext cx="6769131" cy="463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76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BC93D44-44BE-1E49-BDCA-DD287565D0E5}">
  <we:reference id="b0430364-2ab6-47cd-907e-f8b72239b204" version="4.13.31.0" store="EXCatalog" storeType="EXCatalog"/>
  <we:alternateReferences>
    <we:reference id="WA200000729" version="4.13.31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142</Words>
  <Application>Microsoft Macintosh PowerPoint</Application>
  <PresentationFormat>Widescreen</PresentationFormat>
  <Paragraphs>37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EpiGen</vt:lpstr>
      <vt:lpstr>EpiGen: the Goal</vt:lpstr>
      <vt:lpstr>EpiGen: the Goal</vt:lpstr>
      <vt:lpstr>Pipeline</vt:lpstr>
      <vt:lpstr>Optimizer</vt:lpstr>
      <vt:lpstr>Interpretability</vt:lpstr>
      <vt:lpstr>Interpretability</vt:lpstr>
      <vt:lpstr>Interpretability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Trimcev, Denny</dc:creator>
  <cp:lastModifiedBy>Trimcev, Denny</cp:lastModifiedBy>
  <cp:revision>2</cp:revision>
  <dcterms:created xsi:type="dcterms:W3CDTF">2026-08-16T06:29:55Z</dcterms:created>
  <dcterms:modified xsi:type="dcterms:W3CDTF">2026-08-16T16:56:27Z</dcterms:modified>
</cp:coreProperties>
</file>